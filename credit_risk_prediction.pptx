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2"/>
  </p:notesMasterIdLst>
  <p:handoutMasterIdLst>
    <p:handoutMasterId r:id="rId23"/>
  </p:handoutMasterIdLst>
  <p:sldIdLst>
    <p:sldId id="306" r:id="rId5"/>
    <p:sldId id="307" r:id="rId6"/>
    <p:sldId id="308" r:id="rId7"/>
    <p:sldId id="309" r:id="rId8"/>
    <p:sldId id="294" r:id="rId9"/>
    <p:sldId id="295" r:id="rId10"/>
    <p:sldId id="310" r:id="rId11"/>
    <p:sldId id="313" r:id="rId12"/>
    <p:sldId id="303" r:id="rId13"/>
    <p:sldId id="305" r:id="rId14"/>
    <p:sldId id="304" r:id="rId15"/>
    <p:sldId id="312" r:id="rId16"/>
    <p:sldId id="314" r:id="rId17"/>
    <p:sldId id="311" r:id="rId18"/>
    <p:sldId id="315" r:id="rId19"/>
    <p:sldId id="316" r:id="rId20"/>
    <p:sldId id="317" r:id="rId21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25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3D540216-9055-4C93-87A4-D0531F063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AA5119-4B0E-448B-AC3C-D056BBBC97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6ADF-3EC2-4D6F-9F7F-1F88E3288139}" type="datetime1">
              <a:rPr lang="tr-TR" smtClean="0"/>
              <a:t>17.12.2025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487CF48-2790-4843-BDF8-2D1DCCB4B3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CE5D44-D9F9-426F-84AB-A62A927CA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90FA1-7FBD-4C37-BCAF-01F3D049D1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6621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214D3A-912A-4866-90B4-0232CEDB2416}" type="datetime1">
              <a:rPr lang="tr-TR" noProof="0" smtClean="0"/>
              <a:t>17.12.2025</a:t>
            </a:fld>
            <a:endParaRPr lang="tr-TR" noProof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3263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829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2956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5461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6253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1403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6458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1550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6776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835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3276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7186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7401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11" name="Düz Bağlayıcı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2 Slay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fik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1" name="Grafik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23" name="Grafik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sim Yer Tutucusu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Grafik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7" name="Grafik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sim Yer Tutucusu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tr-TR" noProof="0"/>
              <a:t>Esas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9" name="Düz Bağlayıcı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fik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9" name="Grafik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ölüm Üst Bilgisi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tr-TR" noProof="0"/>
          </a:p>
        </p:txBody>
      </p:sp>
      <p:sp>
        <p:nvSpPr>
          <p:cNvPr id="4" name="Grafik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5" name="Grafik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6" name="Grafik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7" name="Grafik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3" name="Grafik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tr-TR" noProof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aşlık ve İçeri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9" name="Grafik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1" name="Grafik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fik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fik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4" name="Grafik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6" name="Grafik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5" name="Metin Yer Tutucusu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İçerik Yer Tutucusu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tr-TR" noProof="0"/>
              <a:t>Başlık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-TR" noProof="0"/>
              <a:t>Asıl alt başlık stilini düzenlemek için tıklatın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cxnSp>
        <p:nvCxnSpPr>
          <p:cNvPr id="7" name="Düz Bağlayıcı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kdörtgen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noProof="0"/>
          </a:p>
        </p:txBody>
      </p:sp>
      <p:sp>
        <p:nvSpPr>
          <p:cNvPr id="13" name="Resim Yer Tutucusu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10" name="Resim Yer Tutucusu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11" name="Resim Yer Tutucusu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Yalnızca Başlık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sim Yer Tutucusu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2" name="Resim Yer Tutucusu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1" name="Resim Yer Tutucusu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30" name="Resim Yer Tutucusu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pPr/>
              <a:t>‹#›</a:t>
            </a:fld>
            <a:endParaRPr lang="tr-TR" noProof="0"/>
          </a:p>
        </p:txBody>
      </p:sp>
      <p:sp>
        <p:nvSpPr>
          <p:cNvPr id="8" name="Grafik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0" name="Grafik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sp>
        <p:nvSpPr>
          <p:cNvPr id="12" name="Grafik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tr-TR" noProof="0"/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Yer Tutucusu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Tarih Yer Tutucusu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6" name="Düz Bağlayıcı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US" noProof="0"/>
              <a:t>Click to edit Master title style</a:t>
            </a:r>
            <a:endParaRPr lang="tr-TR" noProof="0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tr-TR" noProof="0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Tarih Yer Tutucusu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tr-TR" noProof="0"/>
              <a:t>03.09.20XX</a:t>
            </a:r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  <p:cxnSp>
        <p:nvCxnSpPr>
          <p:cNvPr id="8" name="Düz Bağlayıcı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-TR" noProof="0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4" name="Tarih Yer Tutucusu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03.09.20XX</a:t>
            </a:r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tr-TR" noProof="0"/>
              <a:t>Sunu Başlığı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tr-TR" noProof="0" smtClean="0"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7" y="594360"/>
            <a:ext cx="9315123" cy="2843784"/>
          </a:xfrm>
        </p:spPr>
        <p:txBody>
          <a:bodyPr rtlCol="0">
            <a:normAutofit/>
          </a:bodyPr>
          <a:lstStyle/>
          <a:p>
            <a:r>
              <a:rPr lang="en-US" dirty="0"/>
              <a:t>Explainable Credit Risk Prediction Using Random Forest 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/>
              <a:t>Abdulali</a:t>
            </a:r>
            <a:r>
              <a:rPr lang="tr-TR"/>
              <a:t> Muhammed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937260"/>
            <a:ext cx="5833872" cy="2276856"/>
          </a:xfrm>
        </p:spPr>
        <p:txBody>
          <a:bodyPr rtlCol="0"/>
          <a:lstStyle/>
          <a:p>
            <a:pPr rtl="0"/>
            <a:r>
              <a:rPr lang="tr-TR" b="1" cap="all" spc="400" dirty="0">
                <a:solidFill>
                  <a:schemeClr val="bg1"/>
                </a:solidFill>
                <a:latin typeface="+mn-lt"/>
              </a:rPr>
              <a:t>Gündem</a:t>
            </a:r>
            <a:endParaRPr lang="tr-TR" dirty="0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31B07E2-2766-B226-5DB9-597C5E06EEB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519071" y="4526259"/>
            <a:ext cx="45054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Dataset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Taiwan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Credit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Card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Clients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(30k)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Model: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Forest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TreeBagger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Tools: MATLAB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Statistics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&amp; ML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Toolbox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A30F8-0666-2FDC-D671-E294B3E0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71" y="4108247"/>
            <a:ext cx="3188711" cy="26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199070"/>
            <a:ext cx="8789997" cy="1179576"/>
          </a:xfrm>
        </p:spPr>
        <p:txBody>
          <a:bodyPr rtlCol="0">
            <a:normAutofit fontScale="90000"/>
          </a:bodyPr>
          <a:lstStyle/>
          <a:p>
            <a:r>
              <a:rPr lang="en-US" dirty="0"/>
              <a:t>Why credit risk prediction matters</a:t>
            </a:r>
            <a:r>
              <a:rPr lang="tr-TR" dirty="0"/>
              <a:t>?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r>
              <a:rPr lang="en-US" dirty="0"/>
              <a:t>Financial institutions must balance:</a:t>
            </a:r>
          </a:p>
          <a:p>
            <a:pPr lvl="1"/>
            <a:r>
              <a:rPr lang="en-US" dirty="0"/>
              <a:t>Risk control (avoiding defaults)</a:t>
            </a:r>
          </a:p>
          <a:p>
            <a:pPr lvl="1"/>
            <a:r>
              <a:rPr lang="en-US" dirty="0"/>
              <a:t>Profitability (avoiding unnecessary rejections)</a:t>
            </a:r>
          </a:p>
          <a:p>
            <a:r>
              <a:rPr lang="en-US" dirty="0"/>
              <a:t>Regulatory requirements demand:</a:t>
            </a:r>
          </a:p>
          <a:p>
            <a:pPr lvl="1"/>
            <a:r>
              <a:rPr lang="en-US" dirty="0"/>
              <a:t>Model transparency</a:t>
            </a:r>
          </a:p>
          <a:p>
            <a:pPr lvl="1"/>
            <a:r>
              <a:rPr lang="en-US" dirty="0"/>
              <a:t>Explainability</a:t>
            </a:r>
          </a:p>
          <a:p>
            <a:r>
              <a:rPr lang="en-US" dirty="0"/>
              <a:t>Accuracy alone is </a:t>
            </a:r>
            <a:r>
              <a:rPr lang="en-US" b="1" dirty="0"/>
              <a:t>not sufficient</a:t>
            </a:r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Build a </a:t>
            </a:r>
            <a:r>
              <a:rPr lang="en-US" b="1" dirty="0"/>
              <a:t>robust and explainable</a:t>
            </a:r>
            <a:r>
              <a:rPr lang="en-US" dirty="0"/>
              <a:t> model using MATLAB.</a:t>
            </a:r>
          </a:p>
        </p:txBody>
      </p:sp>
      <p:sp>
        <p:nvSpPr>
          <p:cNvPr id="10" name="Alt Bilgi Yer Tutucusu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/>
              <a:t>Sunu Başlığı</a:t>
            </a:r>
          </a:p>
        </p:txBody>
      </p:sp>
      <p:sp>
        <p:nvSpPr>
          <p:cNvPr id="11" name="Slayt Numarası Yer Tutucusu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3</a:t>
            </a:fld>
            <a:endParaRPr lang="tr-T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1CDFF-D8B5-86A5-3F4E-45AB7341E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26" y="2654088"/>
            <a:ext cx="35723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994" y="-1170432"/>
            <a:ext cx="9144000" cy="2340864"/>
          </a:xfrm>
        </p:spPr>
        <p:txBody>
          <a:bodyPr rtlCol="0">
            <a:normAutofit/>
          </a:bodyPr>
          <a:lstStyle/>
          <a:p>
            <a:r>
              <a:rPr lang="tr-TR" dirty="0" err="1"/>
              <a:t>roblem</a:t>
            </a:r>
            <a:r>
              <a:rPr lang="tr-TR" dirty="0"/>
              <a:t> Definition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714" y="2590800"/>
            <a:ext cx="11299372" cy="2819400"/>
          </a:xfrm>
        </p:spPr>
        <p:txBody>
          <a:bodyPr rtlCol="0">
            <a:noAutofit/>
          </a:bodyPr>
          <a:lstStyle/>
          <a:p>
            <a:r>
              <a:rPr lang="en-US" dirty="0"/>
              <a:t>Given customer financial attributes:</a:t>
            </a:r>
          </a:p>
          <a:p>
            <a:r>
              <a:rPr lang="en-US" dirty="0"/>
              <a:t>Predict whether a client will </a:t>
            </a:r>
            <a:r>
              <a:rPr lang="en-US" b="1" dirty="0"/>
              <a:t>default next month</a:t>
            </a:r>
            <a:endParaRPr lang="en-US" dirty="0"/>
          </a:p>
          <a:p>
            <a:r>
              <a:rPr lang="en-US" dirty="0"/>
              <a:t>Binary target:</a:t>
            </a:r>
          </a:p>
          <a:p>
            <a:pPr lvl="1"/>
            <a:r>
              <a:rPr lang="en-US" dirty="0"/>
              <a:t>Y = 1 → Default</a:t>
            </a:r>
          </a:p>
          <a:p>
            <a:pPr lvl="1"/>
            <a:r>
              <a:rPr lang="en-US" dirty="0"/>
              <a:t>Y = 0 → Non-default</a:t>
            </a:r>
          </a:p>
          <a:p>
            <a:r>
              <a:rPr lang="en-US" dirty="0"/>
              <a:t>This is a </a:t>
            </a:r>
            <a:r>
              <a:rPr lang="en-US" b="1" dirty="0"/>
              <a:t>supervised classification problem</a:t>
            </a:r>
            <a:r>
              <a:rPr lang="en-US" dirty="0"/>
              <a:t> with:</a:t>
            </a:r>
          </a:p>
          <a:p>
            <a:r>
              <a:rPr lang="en-US" dirty="0"/>
              <a:t>Class imbalance</a:t>
            </a:r>
          </a:p>
          <a:p>
            <a:r>
              <a:rPr lang="en-US" dirty="0"/>
              <a:t>High financial cost for misclassification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BACA35-FDDB-34E0-E4E9-A40C958C4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 rtlCol="0">
            <a:normAutofit/>
          </a:bodyPr>
          <a:lstStyle/>
          <a:p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Overview</a:t>
            </a:r>
            <a:endParaRPr lang="tr-TR" sz="5400" dirty="0"/>
          </a:p>
        </p:txBody>
      </p:sp>
      <p:sp>
        <p:nvSpPr>
          <p:cNvPr id="9" name="Slayt Numarası Yer Tutucusu 5">
            <a:extLst>
              <a:ext uri="{FF2B5EF4-FFF2-40B4-BE49-F238E27FC236}">
                <a16:creationId xmlns:a16="http://schemas.microsoft.com/office/drawing/2014/main" id="{4FC290B8-BF94-4636-BFAB-9FD67F4A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t>5</a:t>
            </a:fld>
            <a:endParaRPr lang="tr-TR" b="1" cap="all" spc="100" dirty="0">
              <a:solidFill>
                <a:schemeClr val="accent2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FA606A-EBE4-5307-5172-5B5767FD2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8828" y="1808048"/>
            <a:ext cx="6139543" cy="260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Taiwan Credit Card Default Dataset</a:t>
            </a:r>
            <a:endParaRPr lang="en-US" sz="1800" dirty="0"/>
          </a:p>
          <a:p>
            <a:r>
              <a:rPr lang="en-US" sz="1800" dirty="0"/>
              <a:t>~30,000 observations</a:t>
            </a:r>
          </a:p>
          <a:p>
            <a:r>
              <a:rPr lang="en-US" sz="1800" dirty="0"/>
              <a:t>23 input features (X1–X23)</a:t>
            </a:r>
          </a:p>
          <a:p>
            <a:r>
              <a:rPr lang="en-US" sz="1800" dirty="0"/>
              <a:t>1 binary target variable (Y)</a:t>
            </a:r>
          </a:p>
          <a:p>
            <a:r>
              <a:rPr lang="en-US" sz="1800" dirty="0"/>
              <a:t>Fully numeric features</a:t>
            </a:r>
          </a:p>
          <a:p>
            <a:r>
              <a:rPr lang="en-US" sz="1800" dirty="0"/>
              <a:t>Widely used benchmark in credit-risk</a:t>
            </a:r>
            <a:endParaRPr lang="tr-TR" sz="1800" dirty="0"/>
          </a:p>
          <a:p>
            <a:pPr marL="0" indent="0">
              <a:buNone/>
            </a:pPr>
            <a:r>
              <a:rPr lang="en-US" sz="1800" dirty="0"/>
              <a:t> research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2B0DE6-80FE-8F40-63BA-D006761C0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83" y="1306656"/>
            <a:ext cx="6139543" cy="424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rtlCol="0">
            <a:normAutofit/>
          </a:bodyPr>
          <a:lstStyle/>
          <a:p>
            <a:r>
              <a:rPr lang="tr-TR" dirty="0"/>
              <a:t>Data </a:t>
            </a:r>
            <a:r>
              <a:rPr lang="tr-TR" dirty="0" err="1"/>
              <a:t>Inspection</a:t>
            </a:r>
            <a:r>
              <a:rPr lang="tr-TR" dirty="0"/>
              <a:t> &amp; </a:t>
            </a:r>
            <a:r>
              <a:rPr lang="tr-TR" dirty="0" err="1"/>
              <a:t>Integrity</a:t>
            </a:r>
            <a:endParaRPr lang="tr-TR" sz="5400" dirty="0"/>
          </a:p>
        </p:txBody>
      </p:sp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t>6</a:t>
            </a:fld>
            <a:endParaRPr lang="tr-TR" b="1" cap="all" spc="10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B5CE-2F64-1DCD-3C42-1FD41E95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 err="1"/>
              <a:t>Steps</a:t>
            </a:r>
            <a:r>
              <a:rPr lang="tr-TR" dirty="0"/>
              <a:t> </a:t>
            </a:r>
            <a:r>
              <a:rPr lang="tr-TR" dirty="0" err="1"/>
              <a:t>performed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analyzer.m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Preserved</a:t>
            </a:r>
            <a:r>
              <a:rPr lang="tr-TR" dirty="0"/>
              <a:t>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names</a:t>
            </a:r>
            <a:endParaRPr lang="tr-TR" dirty="0"/>
          </a:p>
          <a:p>
            <a:pPr lvl="1"/>
            <a:r>
              <a:rPr lang="tr-TR" dirty="0" err="1"/>
              <a:t>Verified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size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structure</a:t>
            </a:r>
            <a:endParaRPr lang="tr-TR" dirty="0"/>
          </a:p>
          <a:p>
            <a:pPr lvl="1"/>
            <a:r>
              <a:rPr lang="tr-TR" dirty="0" err="1"/>
              <a:t>Confirmed</a:t>
            </a:r>
            <a:r>
              <a:rPr lang="tr-TR" dirty="0"/>
              <a:t> presence of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tr-TR" dirty="0"/>
          </a:p>
          <a:p>
            <a:pPr lvl="1"/>
            <a:r>
              <a:rPr lang="tr-TR" dirty="0" err="1"/>
              <a:t>Removed</a:t>
            </a:r>
            <a:r>
              <a:rPr lang="tr-TR" dirty="0"/>
              <a:t> </a:t>
            </a:r>
            <a:r>
              <a:rPr lang="tr-TR" dirty="0" err="1"/>
              <a:t>index-like</a:t>
            </a:r>
            <a:r>
              <a:rPr lang="tr-TR" dirty="0"/>
              <a:t> </a:t>
            </a:r>
            <a:r>
              <a:rPr lang="tr-TR" dirty="0" err="1"/>
              <a:t>columns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present</a:t>
            </a:r>
            <a:endParaRPr lang="tr-TR" dirty="0"/>
          </a:p>
          <a:p>
            <a:pPr lvl="1"/>
            <a:r>
              <a:rPr lang="tr-TR" dirty="0" err="1"/>
              <a:t>Ensured</a:t>
            </a:r>
            <a:r>
              <a:rPr lang="tr-TR" dirty="0"/>
              <a:t> </a:t>
            </a:r>
            <a:r>
              <a:rPr lang="tr-TR" dirty="0" err="1"/>
              <a:t>numerical</a:t>
            </a:r>
            <a:r>
              <a:rPr lang="tr-TR" dirty="0"/>
              <a:t> </a:t>
            </a:r>
            <a:r>
              <a:rPr lang="tr-TR" dirty="0" err="1"/>
              <a:t>consistency</a:t>
            </a:r>
            <a:endParaRPr lang="tr-TR" dirty="0"/>
          </a:p>
          <a:p>
            <a:pPr marL="0" indent="0">
              <a:buNone/>
            </a:pPr>
            <a:r>
              <a:rPr lang="tr-TR" b="1" dirty="0" err="1"/>
              <a:t>Why</a:t>
            </a:r>
            <a:r>
              <a:rPr lang="tr-TR" b="1" dirty="0"/>
              <a:t> </a:t>
            </a:r>
            <a:r>
              <a:rPr lang="tr-TR" b="1" dirty="0" err="1"/>
              <a:t>important</a:t>
            </a:r>
            <a:r>
              <a:rPr lang="tr-TR" b="1" dirty="0"/>
              <a:t>:</a:t>
            </a:r>
            <a:br>
              <a:rPr lang="tr-TR" dirty="0"/>
            </a:br>
            <a:r>
              <a:rPr lang="tr-TR" dirty="0" err="1"/>
              <a:t>Prevents</a:t>
            </a:r>
            <a:r>
              <a:rPr lang="tr-TR" dirty="0"/>
              <a:t> data </a:t>
            </a:r>
            <a:r>
              <a:rPr lang="tr-TR" dirty="0" err="1"/>
              <a:t>leakage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ensures</a:t>
            </a:r>
            <a:r>
              <a:rPr lang="tr-TR" dirty="0"/>
              <a:t> </a:t>
            </a:r>
            <a:r>
              <a:rPr lang="tr-TR" dirty="0" err="1"/>
              <a:t>reproducibility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FDFB95-2803-4882-8DE6-333A75D3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6365" y="-2021695"/>
            <a:ext cx="5481017" cy="3236976"/>
          </a:xfrm>
        </p:spPr>
        <p:txBody>
          <a:bodyPr rtlCol="0"/>
          <a:lstStyle/>
          <a:p>
            <a:r>
              <a:rPr lang="tr-TR" dirty="0"/>
              <a:t>Data </a:t>
            </a:r>
            <a:r>
              <a:rPr lang="tr-TR" dirty="0" err="1"/>
              <a:t>Splitting</a:t>
            </a:r>
            <a:r>
              <a:rPr lang="tr-TR" dirty="0"/>
              <a:t> </a:t>
            </a:r>
            <a:r>
              <a:rPr lang="tr-TR" dirty="0" err="1"/>
              <a:t>Strategy</a:t>
            </a:r>
            <a:endParaRPr lang="tr-TR" dirty="0"/>
          </a:p>
        </p:txBody>
      </p:sp>
      <p:sp>
        <p:nvSpPr>
          <p:cNvPr id="10" name="Slayt Numarası Yer Tutucusu 9">
            <a:extLst>
              <a:ext uri="{FF2B5EF4-FFF2-40B4-BE49-F238E27FC236}">
                <a16:creationId xmlns:a16="http://schemas.microsoft.com/office/drawing/2014/main" id="{FE0D311A-C366-4A86-9404-C0F5CBF9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7</a:t>
            </a:fld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76921F-A0C9-90C4-2226-B29871ABE4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6365" y="1724206"/>
            <a:ext cx="5127171" cy="34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Dataset split:</a:t>
            </a:r>
          </a:p>
          <a:p>
            <a:r>
              <a:rPr lang="en-US" sz="1600" dirty="0"/>
              <a:t>70% Training</a:t>
            </a:r>
          </a:p>
          <a:p>
            <a:r>
              <a:rPr lang="en-US" sz="1600" dirty="0"/>
              <a:t>15% Validation</a:t>
            </a:r>
          </a:p>
          <a:p>
            <a:r>
              <a:rPr lang="en-US" sz="1600" dirty="0"/>
              <a:t>15% Test</a:t>
            </a:r>
          </a:p>
          <a:p>
            <a:r>
              <a:rPr lang="en-US" sz="1600" dirty="0"/>
              <a:t>Key detail:</a:t>
            </a:r>
          </a:p>
          <a:p>
            <a:r>
              <a:rPr lang="en-US" sz="1600" b="1" dirty="0"/>
              <a:t>Stratified sampling</a:t>
            </a:r>
            <a:r>
              <a:rPr lang="en-US" sz="1600" dirty="0"/>
              <a:t> was used</a:t>
            </a:r>
          </a:p>
          <a:p>
            <a:r>
              <a:rPr lang="en-US" sz="1600" dirty="0"/>
              <a:t>Maintains default / non-default ratios</a:t>
            </a:r>
          </a:p>
          <a:p>
            <a:r>
              <a:rPr lang="en-US" sz="1600" dirty="0"/>
              <a:t>This is critical for </a:t>
            </a:r>
            <a:r>
              <a:rPr lang="en-US" sz="1600" b="1" dirty="0"/>
              <a:t>imbalanced classification problems</a:t>
            </a:r>
            <a:r>
              <a:rPr lang="en-US" sz="1600" dirty="0"/>
              <a:t>.</a:t>
            </a:r>
          </a:p>
        </p:txBody>
      </p:sp>
      <p:pic>
        <p:nvPicPr>
          <p:cNvPr id="3074" name="Picture 2" descr="Train, Validation, Test Split” explained in 200 words. - Data Science">
            <a:extLst>
              <a:ext uri="{FF2B5EF4-FFF2-40B4-BE49-F238E27FC236}">
                <a16:creationId xmlns:a16="http://schemas.microsoft.com/office/drawing/2014/main" id="{6C955832-EEDE-10B2-B1FD-396E0A8ED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88" y="549075"/>
            <a:ext cx="4449005" cy="550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473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Model </a:t>
            </a:r>
            <a:r>
              <a:rPr lang="tr-TR"/>
              <a:t>Choice</a:t>
            </a:r>
            <a:r>
              <a:rPr lang="tr-TR" dirty="0"/>
              <a:t>: </a:t>
            </a:r>
            <a:r>
              <a:rPr lang="tr-TR"/>
              <a:t>Random</a:t>
            </a:r>
            <a:r>
              <a:rPr lang="tr-TR" dirty="0"/>
              <a:t> </a:t>
            </a:r>
            <a:r>
              <a:rPr lang="tr-TR"/>
              <a:t>Forest</a:t>
            </a:r>
            <a:endParaRPr lang="tr-TR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A3C4190-6ABC-6FC3-B150-5BFDBA20A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752" y="1825625"/>
            <a:ext cx="4553712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Why Random Forest?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Handles non-linear relationships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No distributional assumptions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Robust to noise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Built-in feature importance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Strong baseline in financial ML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/>
              <a:t>Implemented using MATLAB’s TreeBagger.</a:t>
            </a:r>
          </a:p>
        </p:txBody>
      </p:sp>
      <p:pic>
        <p:nvPicPr>
          <p:cNvPr id="4098" name="Picture 2" descr="Everything about Random Forest. Random ...">
            <a:extLst>
              <a:ext uri="{FF2B5EF4-FFF2-40B4-BE49-F238E27FC236}">
                <a16:creationId xmlns:a16="http://schemas.microsoft.com/office/drawing/2014/main" id="{0C917E9C-D5C5-FC02-D4CA-6BB63F3F1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6052" y="1397726"/>
            <a:ext cx="5219891" cy="372849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Slayt Numarası Yer Tutucusu 5" hidden="1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tr-TR" smtClean="0"/>
              <a:pPr rtl="0">
                <a:spcAft>
                  <a:spcPts val="600"/>
                </a:spcAft>
              </a:pPr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485278-3D07-466F-8351-667A2EBE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48950" cy="703673"/>
          </a:xfrm>
        </p:spPr>
        <p:txBody>
          <a:bodyPr rtlCol="0">
            <a:normAutofit fontScale="90000"/>
          </a:bodyPr>
          <a:lstStyle/>
          <a:p>
            <a:r>
              <a:rPr lang="tr-TR" dirty="0"/>
              <a:t>Model </a:t>
            </a:r>
            <a:r>
              <a:rPr lang="tr-TR" dirty="0" err="1"/>
              <a:t>Configuration</a:t>
            </a:r>
            <a:r>
              <a:rPr lang="tr-TR" dirty="0"/>
              <a:t> (MATLAB)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55FF1C-3CBD-419A-9DE4-7A8AA63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tr-TR" b="1" cap="all" spc="100" smtClean="0">
                <a:solidFill>
                  <a:schemeClr val="accent2"/>
                </a:solidFill>
              </a:rPr>
              <a:pPr rtl="0">
                <a:spcAft>
                  <a:spcPts val="600"/>
                </a:spcAft>
              </a:pPr>
              <a:t>9</a:t>
            </a:fld>
            <a:endParaRPr lang="tr-TR" b="1" cap="all" spc="100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C95A8-8AD4-51FD-EB79-E36BBB56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72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Key hyperparameters:</a:t>
            </a:r>
          </a:p>
          <a:p>
            <a:r>
              <a:rPr lang="en-US" dirty="0"/>
              <a:t>Number of trees: </a:t>
            </a:r>
            <a:r>
              <a:rPr lang="en-US" b="1" dirty="0"/>
              <a:t>400</a:t>
            </a:r>
            <a:endParaRPr lang="en-US" dirty="0"/>
          </a:p>
          <a:p>
            <a:r>
              <a:rPr lang="en-US" dirty="0"/>
              <a:t>Minimum leaf size: </a:t>
            </a:r>
            <a:r>
              <a:rPr lang="en-US" b="1" dirty="0"/>
              <a:t>10</a:t>
            </a:r>
            <a:endParaRPr lang="en-US" dirty="0"/>
          </a:p>
          <a:p>
            <a:r>
              <a:rPr lang="en-US" dirty="0"/>
              <a:t>Features per split: sqrt(p)</a:t>
            </a:r>
          </a:p>
          <a:p>
            <a:r>
              <a:rPr lang="en-US" dirty="0"/>
              <a:t>Out-of-Bag (OOB) prediction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 enabled</a:t>
            </a:r>
          </a:p>
          <a:p>
            <a:pPr marL="0" indent="0">
              <a:buNone/>
            </a:pPr>
            <a:r>
              <a:rPr lang="en-US" dirty="0"/>
              <a:t>Design choice:</a:t>
            </a:r>
          </a:p>
          <a:p>
            <a:r>
              <a:rPr lang="en-US" dirty="0"/>
              <a:t>Prevent overfitting</a:t>
            </a:r>
          </a:p>
          <a:p>
            <a:r>
              <a:rPr lang="en-US" dirty="0"/>
              <a:t>Improve generalization</a:t>
            </a:r>
          </a:p>
          <a:p>
            <a:r>
              <a:rPr lang="en-US" dirty="0"/>
              <a:t>Stable decision boundaries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16E88-5817-C6D3-D1EE-A284C14A8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966" y="1948524"/>
            <a:ext cx="6387034" cy="29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8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133137" cy="1325563"/>
          </a:xfrm>
        </p:spPr>
        <p:txBody>
          <a:bodyPr rtlCol="0">
            <a:normAutofit/>
          </a:bodyPr>
          <a:lstStyle/>
          <a:p>
            <a:r>
              <a:rPr lang="tr-TR" sz="5400" dirty="0"/>
              <a:t>ROC </a:t>
            </a:r>
            <a:r>
              <a:rPr lang="tr-TR" sz="5400" dirty="0" err="1"/>
              <a:t>Curve</a:t>
            </a:r>
            <a:r>
              <a:rPr lang="tr-TR" sz="5400" dirty="0"/>
              <a:t> &amp; AUC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EEAF4-3648-C649-33D9-1A70C8ADEAD0}"/>
              </a:ext>
            </a:extLst>
          </p:cNvPr>
          <p:cNvSpPr txBox="1"/>
          <p:nvPr/>
        </p:nvSpPr>
        <p:spPr>
          <a:xfrm>
            <a:off x="979715" y="1909082"/>
            <a:ext cx="41801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/>
              <a:t>ROC </a:t>
            </a:r>
            <a:r>
              <a:rPr lang="tr-TR" b="1" dirty="0" err="1"/>
              <a:t>Curve</a:t>
            </a:r>
            <a:r>
              <a:rPr lang="tr-TR" b="1" dirty="0"/>
              <a:t> Analysis</a:t>
            </a:r>
            <a:endParaRPr lang="tr-TR" dirty="0"/>
          </a:p>
          <a:p>
            <a:r>
              <a:rPr lang="tr-TR" dirty="0"/>
              <a:t>X-</a:t>
            </a:r>
            <a:r>
              <a:rPr lang="tr-TR" dirty="0" err="1"/>
              <a:t>axis</a:t>
            </a:r>
            <a:r>
              <a:rPr lang="tr-TR" dirty="0"/>
              <a:t>: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Positive</a:t>
            </a:r>
            <a:r>
              <a:rPr lang="tr-TR" dirty="0"/>
              <a:t> Rate</a:t>
            </a:r>
          </a:p>
          <a:p>
            <a:r>
              <a:rPr lang="tr-TR" dirty="0"/>
              <a:t>Y-</a:t>
            </a:r>
            <a:r>
              <a:rPr lang="tr-TR" dirty="0" err="1"/>
              <a:t>axis</a:t>
            </a:r>
            <a:r>
              <a:rPr lang="tr-TR" dirty="0"/>
              <a:t>: True </a:t>
            </a:r>
            <a:r>
              <a:rPr lang="tr-TR" dirty="0" err="1"/>
              <a:t>Positive</a:t>
            </a:r>
            <a:r>
              <a:rPr lang="tr-TR" dirty="0"/>
              <a:t> Rate</a:t>
            </a:r>
          </a:p>
          <a:p>
            <a:r>
              <a:rPr lang="tr-TR" dirty="0"/>
              <a:t>Test AUC = </a:t>
            </a:r>
            <a:r>
              <a:rPr lang="tr-TR" b="1" dirty="0"/>
              <a:t>0.7802</a:t>
            </a:r>
            <a:endParaRPr lang="tr-TR" dirty="0"/>
          </a:p>
          <a:p>
            <a:r>
              <a:rPr lang="tr-TR" dirty="0" err="1"/>
              <a:t>Interpretation</a:t>
            </a:r>
            <a:r>
              <a:rPr lang="tr-TR" dirty="0"/>
              <a:t>:</a:t>
            </a:r>
          </a:p>
          <a:p>
            <a:r>
              <a:rPr lang="tr-TR" dirty="0" err="1"/>
              <a:t>Strong</a:t>
            </a:r>
            <a:r>
              <a:rPr lang="tr-TR" dirty="0"/>
              <a:t> </a:t>
            </a:r>
            <a:r>
              <a:rPr lang="tr-TR" dirty="0" err="1"/>
              <a:t>separation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default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non-default</a:t>
            </a:r>
            <a:r>
              <a:rPr lang="tr-TR" dirty="0"/>
              <a:t> </a:t>
            </a:r>
            <a:r>
              <a:rPr lang="tr-TR" dirty="0" err="1"/>
              <a:t>clients</a:t>
            </a:r>
            <a:endParaRPr lang="tr-TR" dirty="0"/>
          </a:p>
          <a:p>
            <a:r>
              <a:rPr lang="tr-TR" dirty="0" err="1"/>
              <a:t>Significantly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guessing</a:t>
            </a:r>
            <a:r>
              <a:rPr lang="tr-TR" dirty="0"/>
              <a:t> (AUC = 0.5)</a:t>
            </a:r>
          </a:p>
        </p:txBody>
      </p:sp>
      <p:sp>
        <p:nvSpPr>
          <p:cNvPr id="3" name="AutoShape 2" descr="Yüklenmiş görüntü">
            <a:extLst>
              <a:ext uri="{FF2B5EF4-FFF2-40B4-BE49-F238E27FC236}">
                <a16:creationId xmlns:a16="http://schemas.microsoft.com/office/drawing/2014/main" id="{E84D0057-407F-09B0-A77A-00C7791AF6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72932-A21F-97D3-0701-E39BD2FBF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599" y="1909082"/>
            <a:ext cx="6630325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410" y="147289"/>
            <a:ext cx="10980737" cy="1325563"/>
          </a:xfrm>
        </p:spPr>
        <p:txBody>
          <a:bodyPr rtlCol="0">
            <a:normAutofit/>
          </a:bodyPr>
          <a:lstStyle/>
          <a:p>
            <a:r>
              <a:rPr lang="tr-TR" sz="5400" dirty="0" err="1"/>
              <a:t>Confusion</a:t>
            </a:r>
            <a:r>
              <a:rPr lang="tr-TR" sz="5400" dirty="0"/>
              <a:t> </a:t>
            </a:r>
            <a:r>
              <a:rPr lang="tr-TR" sz="5400" dirty="0" err="1"/>
              <a:t>Matrix</a:t>
            </a:r>
            <a:r>
              <a:rPr lang="tr-TR" sz="5400" dirty="0"/>
              <a:t> (Test Set)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7BA7C4-6243-908F-4107-37FE9316AD59}"/>
              </a:ext>
            </a:extLst>
          </p:cNvPr>
          <p:cNvSpPr txBox="1"/>
          <p:nvPr/>
        </p:nvSpPr>
        <p:spPr>
          <a:xfrm>
            <a:off x="1022169" y="1314717"/>
            <a:ext cx="387640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Test-set results:</a:t>
            </a:r>
          </a:p>
          <a:p>
            <a:r>
              <a:rPr lang="en-US" sz="2800" dirty="0"/>
              <a:t>True Negatives (TN): 3328</a:t>
            </a:r>
          </a:p>
          <a:p>
            <a:r>
              <a:rPr lang="en-US" sz="2800" dirty="0"/>
              <a:t>False Positives (FP): 177</a:t>
            </a:r>
          </a:p>
          <a:p>
            <a:r>
              <a:rPr lang="en-US" sz="2800" dirty="0"/>
              <a:t>False Negatives (FN): 626</a:t>
            </a:r>
          </a:p>
          <a:p>
            <a:r>
              <a:rPr lang="en-US" sz="2800" dirty="0"/>
              <a:t>True Positives (TP): 369</a:t>
            </a:r>
          </a:p>
          <a:p>
            <a:r>
              <a:rPr lang="en-US" sz="2800" dirty="0"/>
              <a:t>This matrix allows </a:t>
            </a:r>
            <a:r>
              <a:rPr lang="en-US" sz="2800" b="1" dirty="0"/>
              <a:t>cost-sensitive interpretation</a:t>
            </a:r>
            <a:r>
              <a:rPr lang="en-US" sz="2800" dirty="0"/>
              <a:t>, not just accuracy.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1DCA9-9D07-1A8F-6CCC-03B1DA6D0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013" y="1472852"/>
            <a:ext cx="660174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12</a:t>
            </a:fld>
            <a:endParaRPr lang="tr-T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A082D2-C928-BB31-DE43-382741548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18" y="2541010"/>
            <a:ext cx="10019212" cy="4345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False Positive (FP):</a:t>
            </a:r>
            <a:endParaRPr lang="en-US"/>
          </a:p>
          <a:p>
            <a:pPr lvl="1"/>
            <a:r>
              <a:rPr lang="en-US"/>
              <a:t>Safe client rejected</a:t>
            </a:r>
          </a:p>
          <a:p>
            <a:pPr lvl="1"/>
            <a:r>
              <a:rPr lang="en-US"/>
              <a:t>Opportunity cost</a:t>
            </a:r>
          </a:p>
          <a:p>
            <a:r>
              <a:rPr lang="en-US" b="1"/>
              <a:t>False Negative (FN):</a:t>
            </a:r>
            <a:endParaRPr lang="en-US"/>
          </a:p>
          <a:p>
            <a:pPr lvl="1"/>
            <a:r>
              <a:rPr lang="en-US"/>
              <a:t>Risky client approved</a:t>
            </a:r>
          </a:p>
          <a:p>
            <a:pPr lvl="1"/>
            <a:r>
              <a:rPr lang="en-US"/>
              <a:t>Direct financial loss</a:t>
            </a:r>
          </a:p>
          <a:p>
            <a:r>
              <a:rPr lang="en-US"/>
              <a:t>Trade-off can be controlled via:</a:t>
            </a:r>
          </a:p>
          <a:p>
            <a:r>
              <a:rPr lang="en-US"/>
              <a:t>Probability threshold</a:t>
            </a:r>
          </a:p>
          <a:p>
            <a:r>
              <a:rPr lang="en-US"/>
              <a:t>Cost-sensitive learning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tr-TR" altLang="tr-TR" sz="1400" dirty="0">
              <a:latin typeface="Arial" panose="020B0604020202020204" pitchFamily="34" charset="0"/>
            </a:endParaRPr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3A5FE46B-DBA7-1483-FA0C-4EF747200E74}"/>
              </a:ext>
            </a:extLst>
          </p:cNvPr>
          <p:cNvSpPr txBox="1">
            <a:spLocks/>
          </p:cNvSpPr>
          <p:nvPr/>
        </p:nvSpPr>
        <p:spPr>
          <a:xfrm>
            <a:off x="818606" y="932053"/>
            <a:ext cx="11029405" cy="886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all" spc="4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3600"/>
              <a:t>Financial Interpretation of Errors</a:t>
            </a: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1D37BF-7E24-0094-3AC5-477FAD41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tr-TR" dirty="0"/>
              <a:t>Evaluation </a:t>
            </a:r>
            <a:r>
              <a:rPr lang="tr-TR" dirty="0" err="1"/>
              <a:t>Metrics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B8870-61E8-E179-BC59-FF1D452A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13</a:t>
            </a:fld>
            <a:endParaRPr lang="tr-TR" noProof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124C9E-F819-92EA-E0EC-C73FB71ABF9E}"/>
              </a:ext>
            </a:extLst>
          </p:cNvPr>
          <p:cNvSpPr txBox="1"/>
          <p:nvPr/>
        </p:nvSpPr>
        <p:spPr>
          <a:xfrm>
            <a:off x="1386840" y="2014819"/>
            <a:ext cx="99669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Computed on test set: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Precision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F1-score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AUC</a:t>
            </a:r>
          </a:p>
          <a:p>
            <a:r>
              <a:rPr lang="en-US" sz="2800" dirty="0"/>
              <a:t>Why multiple metrics?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Credit risk decisions require </a:t>
            </a:r>
            <a:r>
              <a:rPr lang="en-US" sz="2800" b="1" dirty="0"/>
              <a:t>balanced evaluation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AUC captures ranking quality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F1 balances risk detection vs precision</a:t>
            </a:r>
          </a:p>
        </p:txBody>
      </p:sp>
    </p:spTree>
    <p:extLst>
      <p:ext uri="{BB962C8B-B14F-4D97-AF65-F5344CB8AC3E}">
        <p14:creationId xmlns:p14="http://schemas.microsoft.com/office/powerpoint/2010/main" val="189203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566293"/>
            <a:ext cx="5847585" cy="886968"/>
          </a:xfrm>
        </p:spPr>
        <p:txBody>
          <a:bodyPr rtlCol="0">
            <a:noAutofit/>
          </a:bodyPr>
          <a:lstStyle/>
          <a:p>
            <a:r>
              <a:rPr lang="tr-TR" sz="3600" dirty="0" err="1"/>
              <a:t>Feature</a:t>
            </a:r>
            <a:r>
              <a:rPr lang="tr-TR" sz="3600" dirty="0"/>
              <a:t> </a:t>
            </a:r>
            <a:r>
              <a:rPr lang="tr-TR" sz="3600" dirty="0" err="1"/>
              <a:t>Importance</a:t>
            </a:r>
            <a:r>
              <a:rPr lang="tr-TR" sz="3600" dirty="0"/>
              <a:t> </a:t>
            </a:r>
            <a:r>
              <a:rPr lang="tr-TR" sz="3600" dirty="0" err="1"/>
              <a:t>Method</a:t>
            </a:r>
            <a:endParaRPr lang="tr-TR" sz="3600" dirty="0"/>
          </a:p>
        </p:txBody>
      </p:sp>
      <p:sp>
        <p:nvSpPr>
          <p:cNvPr id="24" name="Slayt Numarası Yer Tutucusu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tr-TR" smtClean="0"/>
              <a:pPr rtl="0"/>
              <a:t>14</a:t>
            </a:fld>
            <a:endParaRPr lang="tr-TR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31BF23-B5F7-3582-1A42-93710CB5A5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344415" y="1926207"/>
            <a:ext cx="5020053" cy="46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dirty="0" err="1"/>
              <a:t>Explainability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:</a:t>
            </a:r>
          </a:p>
          <a:p>
            <a:r>
              <a:rPr lang="tr-TR" b="1" dirty="0" err="1"/>
              <a:t>Permutation</a:t>
            </a:r>
            <a:r>
              <a:rPr lang="tr-TR" b="1" dirty="0"/>
              <a:t> </a:t>
            </a:r>
            <a:r>
              <a:rPr lang="tr-TR" b="1" dirty="0" err="1"/>
              <a:t>Feature</a:t>
            </a:r>
            <a:r>
              <a:rPr lang="tr-TR" b="1" dirty="0"/>
              <a:t> </a:t>
            </a:r>
            <a:r>
              <a:rPr lang="tr-TR" b="1" dirty="0" err="1"/>
              <a:t>Importance</a:t>
            </a:r>
            <a:endParaRPr lang="tr-TR" dirty="0"/>
          </a:p>
          <a:p>
            <a:r>
              <a:rPr lang="tr-TR" dirty="0" err="1"/>
              <a:t>Based</a:t>
            </a:r>
            <a:r>
              <a:rPr lang="tr-TR" dirty="0"/>
              <a:t> on </a:t>
            </a:r>
            <a:r>
              <a:rPr lang="tr-TR" b="1" dirty="0"/>
              <a:t>AUC </a:t>
            </a:r>
            <a:r>
              <a:rPr lang="tr-TR" b="1" dirty="0" err="1"/>
              <a:t>drop</a:t>
            </a:r>
            <a:endParaRPr lang="tr-TR" dirty="0"/>
          </a:p>
          <a:p>
            <a:r>
              <a:rPr lang="tr-TR" dirty="0"/>
              <a:t>Test-set </a:t>
            </a:r>
            <a:r>
              <a:rPr lang="tr-TR" dirty="0" err="1"/>
              <a:t>driven</a:t>
            </a:r>
            <a:r>
              <a:rPr lang="tr-TR" dirty="0"/>
              <a:t> (</a:t>
            </a:r>
            <a:r>
              <a:rPr lang="tr-TR" dirty="0" err="1"/>
              <a:t>no</a:t>
            </a:r>
            <a:r>
              <a:rPr lang="tr-TR" dirty="0"/>
              <a:t> data </a:t>
            </a:r>
            <a:r>
              <a:rPr lang="tr-TR" dirty="0" err="1"/>
              <a:t>leakage</a:t>
            </a:r>
            <a:r>
              <a:rPr lang="tr-TR" dirty="0"/>
              <a:t>)</a:t>
            </a:r>
          </a:p>
          <a:p>
            <a:r>
              <a:rPr lang="tr-TR" dirty="0" err="1"/>
              <a:t>Procedure</a:t>
            </a:r>
            <a:r>
              <a:rPr lang="tr-TR" dirty="0"/>
              <a:t>:</a:t>
            </a:r>
          </a:p>
          <a:p>
            <a:r>
              <a:rPr lang="tr-TR" dirty="0" err="1"/>
              <a:t>Compute</a:t>
            </a:r>
            <a:r>
              <a:rPr lang="tr-TR" dirty="0"/>
              <a:t> </a:t>
            </a:r>
            <a:r>
              <a:rPr lang="tr-TR" dirty="0" err="1"/>
              <a:t>baseline</a:t>
            </a:r>
            <a:r>
              <a:rPr lang="tr-TR" dirty="0"/>
              <a:t> AUC</a:t>
            </a:r>
          </a:p>
          <a:p>
            <a:r>
              <a:rPr lang="tr-TR" dirty="0" err="1"/>
              <a:t>Permute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feature</a:t>
            </a:r>
            <a:endParaRPr lang="tr-TR" dirty="0"/>
          </a:p>
          <a:p>
            <a:r>
              <a:rPr lang="tr-TR" dirty="0" err="1"/>
              <a:t>Recompute</a:t>
            </a:r>
            <a:r>
              <a:rPr lang="tr-TR" dirty="0"/>
              <a:t> AUC</a:t>
            </a:r>
          </a:p>
          <a:p>
            <a:r>
              <a:rPr lang="tr-TR" dirty="0" err="1"/>
              <a:t>Measure</a:t>
            </a:r>
            <a:r>
              <a:rPr lang="tr-TR" dirty="0"/>
              <a:t> AUC </a:t>
            </a:r>
            <a:r>
              <a:rPr lang="tr-TR" dirty="0" err="1"/>
              <a:t>decrease</a:t>
            </a:r>
            <a:endParaRPr lang="tr-TR" dirty="0"/>
          </a:p>
          <a:p>
            <a:r>
              <a:rPr lang="tr-TR" dirty="0" err="1"/>
              <a:t>Higher</a:t>
            </a:r>
            <a:r>
              <a:rPr lang="tr-TR" dirty="0"/>
              <a:t> </a:t>
            </a:r>
            <a:r>
              <a:rPr lang="tr-TR" dirty="0" err="1"/>
              <a:t>drop</a:t>
            </a:r>
            <a:r>
              <a:rPr lang="tr-TR" dirty="0"/>
              <a:t> →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important</a:t>
            </a:r>
            <a:r>
              <a:rPr lang="tr-TR" dirty="0"/>
              <a:t> </a:t>
            </a:r>
            <a:r>
              <a:rPr lang="tr-TR" dirty="0" err="1"/>
              <a:t>feature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2FFC7-3B12-8BA9-2F59-C2DC3149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58" y="1926207"/>
            <a:ext cx="5334893" cy="280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A9BF-98FD-B5F8-7092-BE91140E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0B255D-9DA3-A554-AE03-B1BA8B1F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Importance</a:t>
            </a:r>
            <a:r>
              <a:rPr lang="tr-TR" dirty="0"/>
              <a:t> </a:t>
            </a:r>
            <a:r>
              <a:rPr lang="tr-TR" dirty="0" err="1"/>
              <a:t>Results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8CD21-A9C3-21D9-5C76-BEC99F40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15</a:t>
            </a:fld>
            <a:endParaRPr lang="tr-TR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A14DE-810A-7EC0-DF4B-B1F8813D713D}"/>
              </a:ext>
            </a:extLst>
          </p:cNvPr>
          <p:cNvSpPr txBox="1"/>
          <p:nvPr/>
        </p:nvSpPr>
        <p:spPr>
          <a:xfrm>
            <a:off x="1866899" y="1858899"/>
            <a:ext cx="59055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observations:</a:t>
            </a:r>
          </a:p>
          <a:p>
            <a:r>
              <a:rPr lang="en-US" dirty="0"/>
              <a:t>Feature </a:t>
            </a:r>
            <a:r>
              <a:rPr lang="en-US" b="1" dirty="0"/>
              <a:t>X6</a:t>
            </a:r>
            <a:r>
              <a:rPr lang="en-US" dirty="0"/>
              <a:t> dominates model decisions</a:t>
            </a:r>
          </a:p>
          <a:p>
            <a:r>
              <a:rPr lang="en-US" dirty="0"/>
              <a:t>X1, X7, X12 are secondary drivers</a:t>
            </a:r>
          </a:p>
          <a:p>
            <a:r>
              <a:rPr lang="en-US" dirty="0"/>
              <a:t>Long tail of low-impact features</a:t>
            </a:r>
          </a:p>
          <a:p>
            <a:r>
              <a:rPr lang="en-US" dirty="0"/>
              <a:t>Implication:</a:t>
            </a:r>
          </a:p>
          <a:p>
            <a:r>
              <a:rPr lang="en-US" dirty="0"/>
              <a:t>Model relies on </a:t>
            </a:r>
            <a:r>
              <a:rPr lang="en-US" b="1" dirty="0"/>
              <a:t>meaningful financial signals</a:t>
            </a:r>
            <a:endParaRPr lang="en-US" dirty="0"/>
          </a:p>
          <a:p>
            <a:r>
              <a:rPr lang="en-US" dirty="0"/>
              <a:t>Not driven by noise or overfitting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ED6834-82A8-F26E-A08B-BBD46D3BB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384" y="2198191"/>
            <a:ext cx="421063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9A02-E9B6-46A8-09B3-85739765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86288C-06D8-7FD4-81EA-815923131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572135"/>
            <a:ext cx="11068050" cy="2276856"/>
          </a:xfrm>
        </p:spPr>
        <p:txBody>
          <a:bodyPr/>
          <a:lstStyle/>
          <a:p>
            <a:pPr algn="ctr"/>
            <a:r>
              <a:rPr lang="en-US" dirty="0"/>
              <a:t>Why This Model Is Explainable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A8A669-B98A-66DB-C245-D85E473F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16</a:t>
            </a:fld>
            <a:endParaRPr lang="tr-TR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B4097-2928-6268-992D-B94AD81D95C7}"/>
              </a:ext>
            </a:extLst>
          </p:cNvPr>
          <p:cNvSpPr txBox="1"/>
          <p:nvPr/>
        </p:nvSpPr>
        <p:spPr>
          <a:xfrm>
            <a:off x="3249114" y="2221247"/>
            <a:ext cx="6093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This is </a:t>
            </a:r>
            <a:r>
              <a:rPr lang="en-US" sz="2800" b="1" dirty="0"/>
              <a:t>not a black-box model</a:t>
            </a:r>
            <a:r>
              <a:rPr lang="en-U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Feature importance is measurable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Performance is interpretable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Errors are analyzable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Decision logic is auditable</a:t>
            </a:r>
          </a:p>
          <a:p>
            <a:pPr>
              <a:buNone/>
            </a:pPr>
            <a:r>
              <a:rPr lang="en-US" sz="2800" dirty="0"/>
              <a:t>This aligns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Financial regulations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Academic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Industry expectations</a:t>
            </a:r>
          </a:p>
        </p:txBody>
      </p:sp>
    </p:spTree>
    <p:extLst>
      <p:ext uri="{BB962C8B-B14F-4D97-AF65-F5344CB8AC3E}">
        <p14:creationId xmlns:p14="http://schemas.microsoft.com/office/powerpoint/2010/main" val="302684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0D2C-8A49-8B51-9FB6-5AFFA850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F8737B-F678-66E4-FAB7-E17FE428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37260"/>
            <a:ext cx="11068050" cy="2276856"/>
          </a:xfrm>
        </p:spPr>
        <p:txBody>
          <a:bodyPr/>
          <a:lstStyle/>
          <a:p>
            <a:pPr algn="ctr"/>
            <a:r>
              <a:rPr lang="tr-TR" dirty="0" err="1"/>
              <a:t>Conclusion</a:t>
            </a:r>
            <a:endParaRPr lang="tr-TR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9BC43-8BE1-DE54-D344-29737A09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tr-TR" noProof="0" smtClean="0"/>
              <a:pPr rtl="0"/>
              <a:t>17</a:t>
            </a:fld>
            <a:endParaRPr lang="tr-TR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E1F0C-FD2E-DF34-D10A-BF85DE61089F}"/>
              </a:ext>
            </a:extLst>
          </p:cNvPr>
          <p:cNvSpPr txBox="1"/>
          <p:nvPr/>
        </p:nvSpPr>
        <p:spPr>
          <a:xfrm>
            <a:off x="3273062" y="2034349"/>
            <a:ext cx="61983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-risk model in MATLAB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≈ 0.78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9658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5_TF89338750_Win32.potx" id="{7F167A53-1BFB-47B1-B18D-80965C855A21}" vid="{3E5DCE5D-3C45-4BA8-AE8E-27C7B8135B92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{5B239E20-E195-4FB8-B95F-96A0F3CCB318}TF54b766f8-63ee-43b7-9d15-113a5f30502804f2464d_win32-5d87dbb79ad6</Template>
  <TotalTime>274</TotalTime>
  <Words>623</Words>
  <Application>Microsoft Office PowerPoint</Application>
  <PresentationFormat>Widescreen</PresentationFormat>
  <Paragraphs>167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Univers</vt:lpstr>
      <vt:lpstr>GradientUnivers</vt:lpstr>
      <vt:lpstr>Explainable Credit Risk Prediction Using Random Forest </vt:lpstr>
      <vt:lpstr>Gündem</vt:lpstr>
      <vt:lpstr>Why credit risk prediction matters?</vt:lpstr>
      <vt:lpstr>roblem Definition</vt:lpstr>
      <vt:lpstr>Dataset Overview</vt:lpstr>
      <vt:lpstr>Data Inspection &amp; Integrity</vt:lpstr>
      <vt:lpstr>Data Splitting Strategy</vt:lpstr>
      <vt:lpstr>Model Choice: Random Forest</vt:lpstr>
      <vt:lpstr>Model Configuration (MATLAB)</vt:lpstr>
      <vt:lpstr>ROC Curve &amp; AUC</vt:lpstr>
      <vt:lpstr>Confusion Matrix (Test Set)</vt:lpstr>
      <vt:lpstr>PowerPoint Presentation</vt:lpstr>
      <vt:lpstr>Evaluation Metrics</vt:lpstr>
      <vt:lpstr>Feature Importance Method</vt:lpstr>
      <vt:lpstr>Feature Importance Results</vt:lpstr>
      <vt:lpstr>Why This Model Is Explainable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erkan</dc:creator>
  <cp:lastModifiedBy>mehmet erkan</cp:lastModifiedBy>
  <cp:revision>3</cp:revision>
  <dcterms:created xsi:type="dcterms:W3CDTF">2025-12-14T07:14:59Z</dcterms:created>
  <dcterms:modified xsi:type="dcterms:W3CDTF">2025-12-17T18:06:17Z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